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27ff03e268d272ee" providerId="LiveId" clId="{D6F87E24-8DC7-49E3-B09A-4624F10B8ADB}"/>
    <pc:docChg chg="modSld">
      <pc:chgData name="" userId="27ff03e268d272ee" providerId="LiveId" clId="{D6F87E24-8DC7-49E3-B09A-4624F10B8ADB}" dt="2025-01-21T14:02:26.612" v="38" actId="20577"/>
      <pc:docMkLst>
        <pc:docMk/>
      </pc:docMkLst>
      <pc:sldChg chg="modTransition">
        <pc:chgData name="" userId="27ff03e268d272ee" providerId="LiveId" clId="{D6F87E24-8DC7-49E3-B09A-4624F10B8ADB}" dt="2025-01-21T14:00:56.524" v="3"/>
        <pc:sldMkLst>
          <pc:docMk/>
          <pc:sldMk cId="4003941862" sldId="256"/>
        </pc:sldMkLst>
      </pc:sldChg>
      <pc:sldChg chg="modTransition">
        <pc:chgData name="" userId="27ff03e268d272ee" providerId="LiveId" clId="{D6F87E24-8DC7-49E3-B09A-4624F10B8ADB}" dt="2025-01-21T14:01:00.207" v="4"/>
        <pc:sldMkLst>
          <pc:docMk/>
          <pc:sldMk cId="1343617991" sldId="257"/>
        </pc:sldMkLst>
      </pc:sldChg>
      <pc:sldChg chg="modTransition">
        <pc:chgData name="" userId="27ff03e268d272ee" providerId="LiveId" clId="{D6F87E24-8DC7-49E3-B09A-4624F10B8ADB}" dt="2025-01-21T14:01:20.750" v="10"/>
        <pc:sldMkLst>
          <pc:docMk/>
          <pc:sldMk cId="1919671703" sldId="258"/>
        </pc:sldMkLst>
      </pc:sldChg>
      <pc:sldChg chg="modSp modTransition">
        <pc:chgData name="" userId="27ff03e268d272ee" providerId="LiveId" clId="{D6F87E24-8DC7-49E3-B09A-4624F10B8ADB}" dt="2025-01-21T14:02:26.612" v="38" actId="20577"/>
        <pc:sldMkLst>
          <pc:docMk/>
          <pc:sldMk cId="743544409" sldId="259"/>
        </pc:sldMkLst>
        <pc:spChg chg="mod">
          <ac:chgData name="" userId="27ff03e268d272ee" providerId="LiveId" clId="{D6F87E24-8DC7-49E3-B09A-4624F10B8ADB}" dt="2025-01-21T14:02:26.612" v="38" actId="20577"/>
          <ac:spMkLst>
            <pc:docMk/>
            <pc:sldMk cId="743544409" sldId="259"/>
            <ac:spMk id="3" creationId="{82334931-3B27-46D9-B705-BBBD7B6644D4}"/>
          </ac:spMkLst>
        </pc:spChg>
      </pc:sldChg>
      <pc:sldChg chg="modTransition">
        <pc:chgData name="" userId="27ff03e268d272ee" providerId="LiveId" clId="{D6F87E24-8DC7-49E3-B09A-4624F10B8ADB}" dt="2025-01-21T14:01:44.692" v="33"/>
        <pc:sldMkLst>
          <pc:docMk/>
          <pc:sldMk cId="2773970812" sldId="260"/>
        </pc:sldMkLst>
      </pc:sldChg>
      <pc:sldChg chg="modTransition">
        <pc:chgData name="" userId="27ff03e268d272ee" providerId="LiveId" clId="{D6F87E24-8DC7-49E3-B09A-4624F10B8ADB}" dt="2025-01-21T14:01:53.731" v="36"/>
        <pc:sldMkLst>
          <pc:docMk/>
          <pc:sldMk cId="3997258390" sldId="261"/>
        </pc:sldMkLst>
      </pc:sldChg>
      <pc:sldChg chg="modTransition">
        <pc:chgData name="" userId="27ff03e268d272ee" providerId="LiveId" clId="{D6F87E24-8DC7-49E3-B09A-4624F10B8ADB}" dt="2025-01-21T14:00:47.613" v="0"/>
        <pc:sldMkLst>
          <pc:docMk/>
          <pc:sldMk cId="4284752220"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6B57-74AD-468D-8831-8F539320F8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677255-1F82-424A-99F1-30192FD4C9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C16A92-57DD-4CA1-9924-B742E132D478}"/>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5" name="Footer Placeholder 4">
            <a:extLst>
              <a:ext uri="{FF2B5EF4-FFF2-40B4-BE49-F238E27FC236}">
                <a16:creationId xmlns:a16="http://schemas.microsoft.com/office/drawing/2014/main" id="{01BF25B3-E4EC-4B8F-92B1-4C781EFC4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E9570-075B-4258-97C3-2460E66DDE62}"/>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373339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9B004-57D6-4FF4-B0CB-1000710B6E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F9DB1-40CB-4214-B521-5DD5E9C6CE6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4D128D-1A25-482F-91FB-3E2FCC834A7C}"/>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5" name="Footer Placeholder 4">
            <a:extLst>
              <a:ext uri="{FF2B5EF4-FFF2-40B4-BE49-F238E27FC236}">
                <a16:creationId xmlns:a16="http://schemas.microsoft.com/office/drawing/2014/main" id="{5ED29CE2-15C8-40FE-93AB-DD21AA42F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B91076-F35E-4B51-98AA-89060C473003}"/>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1510587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27122-847E-4FB9-8E73-4378350691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27F80C-3B88-41BF-8F96-7C292C51A0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F96563F-6F30-4212-AC6C-30252FC0A6EB}"/>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5" name="Footer Placeholder 4">
            <a:extLst>
              <a:ext uri="{FF2B5EF4-FFF2-40B4-BE49-F238E27FC236}">
                <a16:creationId xmlns:a16="http://schemas.microsoft.com/office/drawing/2014/main" id="{EC238A69-A08C-48F2-9406-994AB7CF5C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54BA19-D685-4273-B54A-D0EEDFD0C603}"/>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228118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16AEE-AAF0-4ADD-8F57-17BC5098AA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D2BC97-55D7-4EC3-AB91-478E75E12F3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41498D-D204-4D4A-9F59-3FB874E090A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A017D8-C50B-43B8-A357-222A1F0F053B}"/>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6" name="Footer Placeholder 5">
            <a:extLst>
              <a:ext uri="{FF2B5EF4-FFF2-40B4-BE49-F238E27FC236}">
                <a16:creationId xmlns:a16="http://schemas.microsoft.com/office/drawing/2014/main" id="{D4F864AE-5E80-4B06-8BFD-735458F47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9B6CBF-7D98-4256-BA1E-C7EA06A0F585}"/>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258671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7D19-ECB6-4D55-9612-C3F39A9022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F849B8-FB4E-4FB3-8EC7-6573D692AA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F6FEF39-6B8F-462B-B1E2-5DC711AC7A8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5C8708-D8E1-4BB4-8E76-CF4E34B50F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170EE79-CFB8-4CA8-B8A5-12ADF186E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1481E3-BB1C-4FAB-AA17-0B085A59101B}"/>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8" name="Footer Placeholder 7">
            <a:extLst>
              <a:ext uri="{FF2B5EF4-FFF2-40B4-BE49-F238E27FC236}">
                <a16:creationId xmlns:a16="http://schemas.microsoft.com/office/drawing/2014/main" id="{08915122-5543-4D0C-B158-4BBA3174DB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BA71DF-BE34-43D5-A8FB-2BE0A4E86DEF}"/>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4213386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F8B3-D664-43AE-862F-A33246D51B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A4DDB9-1ADA-49A8-AB09-17570C0F172D}"/>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4" name="Footer Placeholder 3">
            <a:extLst>
              <a:ext uri="{FF2B5EF4-FFF2-40B4-BE49-F238E27FC236}">
                <a16:creationId xmlns:a16="http://schemas.microsoft.com/office/drawing/2014/main" id="{D7094DA6-9F28-48A1-8947-F06F650F67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A8E2DF-5047-4D25-801B-38CE500B9A10}"/>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106640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2ADE41-2F2C-42E8-B8AF-A9092A4106FF}"/>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3" name="Footer Placeholder 2">
            <a:extLst>
              <a:ext uri="{FF2B5EF4-FFF2-40B4-BE49-F238E27FC236}">
                <a16:creationId xmlns:a16="http://schemas.microsoft.com/office/drawing/2014/main" id="{5E4458DA-35B0-4DB4-AE37-4B8F51BFD8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2A8D38-A477-4001-BC23-969BEB9AF4A6}"/>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237948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0BD52-E2A4-4FB2-8EFE-EBB37EDB35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3348E8-A7A6-4960-921A-6ED3426FED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7FF6B0-4534-490B-ABB3-88127FC0B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19991BC-806E-4D75-A9FF-BC1369D22EC2}"/>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6" name="Footer Placeholder 5">
            <a:extLst>
              <a:ext uri="{FF2B5EF4-FFF2-40B4-BE49-F238E27FC236}">
                <a16:creationId xmlns:a16="http://schemas.microsoft.com/office/drawing/2014/main" id="{B887800F-B3AF-4D37-8A87-5CF6E2AF3B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8D00F7-A800-4CFE-A01B-ABED0EF31D40}"/>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1417459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F618-B6BF-44F2-9B79-6E3AC9541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C8F9C2-0F54-4A4A-B195-1F4550EA72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366BEA-9357-4BF5-A625-D52525F3A6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BD3CF5A-C19F-431C-A8B7-452D02E0B5DB}"/>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6" name="Footer Placeholder 5">
            <a:extLst>
              <a:ext uri="{FF2B5EF4-FFF2-40B4-BE49-F238E27FC236}">
                <a16:creationId xmlns:a16="http://schemas.microsoft.com/office/drawing/2014/main" id="{42871A90-7831-4FC0-A7B2-4E18D9EC6A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5FD846-3672-4261-86B4-09E4D93CEAC2}"/>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2602885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2F7A-3781-4795-9B1E-7BDADA95F7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36609E-AB85-4C2C-A407-2FE69678E6C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8E11C-21D9-4971-995A-0C8FE3DF0044}"/>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5" name="Footer Placeholder 4">
            <a:extLst>
              <a:ext uri="{FF2B5EF4-FFF2-40B4-BE49-F238E27FC236}">
                <a16:creationId xmlns:a16="http://schemas.microsoft.com/office/drawing/2014/main" id="{6BBE13F6-F0B0-4820-895E-75FB2B827B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B50B8-3DAE-4920-8004-B081413E31FA}"/>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17506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8C6CA5-BD33-4E0A-AF89-B36E0A42FC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2E2724-C173-4F14-AE46-27C27A1ADF3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06207F-6764-4094-B72A-614435D261BB}"/>
              </a:ext>
            </a:extLst>
          </p:cNvPr>
          <p:cNvSpPr>
            <a:spLocks noGrp="1"/>
          </p:cNvSpPr>
          <p:nvPr>
            <p:ph type="dt" sz="half" idx="10"/>
          </p:nvPr>
        </p:nvSpPr>
        <p:spPr/>
        <p:txBody>
          <a:bodyPr/>
          <a:lstStyle/>
          <a:p>
            <a:fld id="{353038B5-7AE6-4B70-BDEB-306BDBDE0931}" type="datetimeFigureOut">
              <a:rPr lang="en-US" smtClean="0"/>
              <a:t>1/21/2025</a:t>
            </a:fld>
            <a:endParaRPr lang="en-US"/>
          </a:p>
        </p:txBody>
      </p:sp>
      <p:sp>
        <p:nvSpPr>
          <p:cNvPr id="5" name="Footer Placeholder 4">
            <a:extLst>
              <a:ext uri="{FF2B5EF4-FFF2-40B4-BE49-F238E27FC236}">
                <a16:creationId xmlns:a16="http://schemas.microsoft.com/office/drawing/2014/main" id="{A733BCC2-DE9F-4B9B-9F62-D212A01A3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F710FD-69EF-4D2A-A38D-E03D8831DB0A}"/>
              </a:ext>
            </a:extLst>
          </p:cNvPr>
          <p:cNvSpPr>
            <a:spLocks noGrp="1"/>
          </p:cNvSpPr>
          <p:nvPr>
            <p:ph type="sldNum" sz="quarter" idx="12"/>
          </p:nvPr>
        </p:nvSpPr>
        <p:spPr/>
        <p:txBody>
          <a:bodyPr/>
          <a:lstStyle/>
          <a:p>
            <a:fld id="{2A868925-675F-4E1A-A021-5803C06E0CE1}" type="slidenum">
              <a:rPr lang="en-US" smtClean="0"/>
              <a:t>‹#›</a:t>
            </a:fld>
            <a:endParaRPr lang="en-US"/>
          </a:p>
        </p:txBody>
      </p:sp>
    </p:spTree>
    <p:extLst>
      <p:ext uri="{BB962C8B-B14F-4D97-AF65-F5344CB8AC3E}">
        <p14:creationId xmlns:p14="http://schemas.microsoft.com/office/powerpoint/2010/main" val="3016120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19877-F770-48B3-8209-EB246C291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F92746-0FEE-43A2-8705-315E618431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9CE22-6CCF-4582-8EB2-F4502FC652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3038B5-7AE6-4B70-BDEB-306BDBDE0931}" type="datetimeFigureOut">
              <a:rPr lang="en-US" smtClean="0"/>
              <a:t>1/21/2025</a:t>
            </a:fld>
            <a:endParaRPr lang="en-US"/>
          </a:p>
        </p:txBody>
      </p:sp>
      <p:sp>
        <p:nvSpPr>
          <p:cNvPr id="5" name="Footer Placeholder 4">
            <a:extLst>
              <a:ext uri="{FF2B5EF4-FFF2-40B4-BE49-F238E27FC236}">
                <a16:creationId xmlns:a16="http://schemas.microsoft.com/office/drawing/2014/main" id="{B870ADD1-EAE3-4BB0-B4BE-D59784EB0C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0DAD59-74C8-4466-A1E5-9896FAE43F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868925-675F-4E1A-A021-5803C06E0CE1}" type="slidenum">
              <a:rPr lang="en-US" smtClean="0"/>
              <a:t>‹#›</a:t>
            </a:fld>
            <a:endParaRPr lang="en-US"/>
          </a:p>
        </p:txBody>
      </p:sp>
    </p:spTree>
    <p:extLst>
      <p:ext uri="{BB962C8B-B14F-4D97-AF65-F5344CB8AC3E}">
        <p14:creationId xmlns:p14="http://schemas.microsoft.com/office/powerpoint/2010/main" val="2646769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7A6764D-184C-475C-946B-4A172E3D0DE2}"/>
              </a:ext>
            </a:extLst>
          </p:cNvPr>
          <p:cNvSpPr>
            <a:spLocks noGrp="1"/>
          </p:cNvSpPr>
          <p:nvPr>
            <p:ph type="subTitle" idx="1"/>
          </p:nvPr>
        </p:nvSpPr>
        <p:spPr>
          <a:xfrm>
            <a:off x="1524000" y="443753"/>
            <a:ext cx="9144000" cy="5983941"/>
          </a:xfrm>
        </p:spPr>
        <p:txBody>
          <a:bodyPr>
            <a:normAutofit/>
          </a:bodyPr>
          <a:lstStyle/>
          <a:p>
            <a:endParaRPr lang="en-US" sz="6000" dirty="0">
              <a:latin typeface="Times New Roman" panose="02020603050405020304" pitchFamily="18" charset="0"/>
              <a:cs typeface="Times New Roman" panose="02020603050405020304" pitchFamily="18" charset="0"/>
            </a:endParaRPr>
          </a:p>
          <a:p>
            <a:r>
              <a:rPr lang="en-US" sz="6000" dirty="0">
                <a:latin typeface="Times New Roman" panose="02020603050405020304" pitchFamily="18" charset="0"/>
                <a:cs typeface="Times New Roman" panose="02020603050405020304" pitchFamily="18" charset="0"/>
              </a:rPr>
              <a:t>Smart Car Parking System</a:t>
            </a:r>
          </a:p>
          <a:p>
            <a:endParaRPr lang="en-US"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Presented by:</a:t>
            </a:r>
          </a:p>
          <a:p>
            <a:r>
              <a:rPr lang="en-US" sz="3200" dirty="0">
                <a:latin typeface="Times New Roman" panose="02020603050405020304" pitchFamily="18" charset="0"/>
                <a:cs typeface="Times New Roman" panose="02020603050405020304" pitchFamily="18" charset="0"/>
              </a:rPr>
              <a:t>Uzair Asif</a:t>
            </a:r>
          </a:p>
          <a:p>
            <a:r>
              <a:rPr lang="en-US" sz="3200" dirty="0">
                <a:latin typeface="Times New Roman" panose="02020603050405020304" pitchFamily="18" charset="0"/>
                <a:cs typeface="Times New Roman" panose="02020603050405020304" pitchFamily="18" charset="0"/>
              </a:rPr>
              <a:t>Ammar Yasir</a:t>
            </a:r>
          </a:p>
          <a:p>
            <a:r>
              <a:rPr lang="en-US" sz="3200" dirty="0">
                <a:latin typeface="Times New Roman" panose="02020603050405020304" pitchFamily="18" charset="0"/>
                <a:cs typeface="Times New Roman" panose="02020603050405020304" pitchFamily="18" charset="0"/>
              </a:rPr>
              <a:t>Ibrahim Zafar</a:t>
            </a:r>
          </a:p>
        </p:txBody>
      </p:sp>
      <p:pic>
        <p:nvPicPr>
          <p:cNvPr id="8" name="Picture 7">
            <a:extLst>
              <a:ext uri="{FF2B5EF4-FFF2-40B4-BE49-F238E27FC236}">
                <a16:creationId xmlns:a16="http://schemas.microsoft.com/office/drawing/2014/main" id="{23F652A8-4DC0-4961-A80A-1348EFB5F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6153" y="2594648"/>
            <a:ext cx="2451847" cy="3147246"/>
          </a:xfrm>
          <a:prstGeom prst="rect">
            <a:avLst/>
          </a:prstGeom>
        </p:spPr>
      </p:pic>
    </p:spTree>
    <p:extLst>
      <p:ext uri="{BB962C8B-B14F-4D97-AF65-F5344CB8AC3E}">
        <p14:creationId xmlns:p14="http://schemas.microsoft.com/office/powerpoint/2010/main" val="4003941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BE0F45-EF88-4573-BA84-29A73EF55482}"/>
              </a:ext>
            </a:extLst>
          </p:cNvPr>
          <p:cNvSpPr>
            <a:spLocks noGrp="1"/>
          </p:cNvSpPr>
          <p:nvPr>
            <p:ph idx="1"/>
          </p:nvPr>
        </p:nvSpPr>
        <p:spPr>
          <a:xfrm>
            <a:off x="838200" y="430306"/>
            <a:ext cx="10515600" cy="5746657"/>
          </a:xfrm>
        </p:spPr>
        <p:txBody>
          <a:bodyPr/>
          <a:lstStyle/>
          <a:p>
            <a:pPr marL="0" indent="0">
              <a:buNone/>
            </a:pPr>
            <a:endParaRPr lang="en-US" sz="4000" b="1" dirty="0">
              <a:latin typeface="Times New Roman" panose="02020603050405020304" pitchFamily="18" charset="0"/>
              <a:cs typeface="Times New Roman" panose="02020603050405020304" pitchFamily="18" charset="0"/>
            </a:endParaRPr>
          </a:p>
          <a:p>
            <a:pPr marL="0" indent="0">
              <a:buNone/>
            </a:pPr>
            <a:r>
              <a:rPr lang="en-US" sz="4000" b="1" dirty="0">
                <a:latin typeface="Times New Roman" panose="02020603050405020304" pitchFamily="18" charset="0"/>
                <a:cs typeface="Times New Roman" panose="02020603050405020304" pitchFamily="18" charset="0"/>
              </a:rPr>
              <a:t>Introduction</a:t>
            </a:r>
          </a:p>
          <a:p>
            <a:pPr marL="0" indent="0">
              <a:buNone/>
            </a:pPr>
            <a:r>
              <a:rPr lang="en-US" sz="3200" dirty="0">
                <a:latin typeface="Times New Roman" panose="02020603050405020304" pitchFamily="18" charset="0"/>
                <a:cs typeface="Times New Roman" panose="02020603050405020304" pitchFamily="18" charset="0"/>
              </a:rPr>
              <a:t>A smart car parking system is a modern way to manage parking spaces using sensors and automated controls. It tracks vehicles entering and exiting to update available slots in real time. The system provides clear information on displays, making parking easier and more organized. With automated gates and efficient monitoring, the system reduces manual effort and streamlines parking operations, making it ideal for modern parking facilities.</a:t>
            </a:r>
          </a:p>
        </p:txBody>
      </p:sp>
    </p:spTree>
    <p:extLst>
      <p:ext uri="{BB962C8B-B14F-4D97-AF65-F5344CB8AC3E}">
        <p14:creationId xmlns:p14="http://schemas.microsoft.com/office/powerpoint/2010/main" val="134361799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72E9EA-9B9F-441C-B08C-8186E9BE9DDA}"/>
              </a:ext>
            </a:extLst>
          </p:cNvPr>
          <p:cNvSpPr>
            <a:spLocks noGrp="1"/>
          </p:cNvSpPr>
          <p:nvPr>
            <p:ph idx="1"/>
          </p:nvPr>
        </p:nvSpPr>
        <p:spPr>
          <a:xfrm>
            <a:off x="838200" y="295835"/>
            <a:ext cx="10515600" cy="5881128"/>
          </a:xfrm>
        </p:spPr>
        <p:txBody>
          <a:bodyPr/>
          <a:lstStyle/>
          <a:p>
            <a:pPr marL="0" indent="0">
              <a:buNone/>
            </a:pPr>
            <a:endParaRPr lang="en-US" sz="4000" b="1" dirty="0">
              <a:latin typeface="Times New Roman" panose="02020603050405020304" pitchFamily="18" charset="0"/>
              <a:cs typeface="Times New Roman" panose="02020603050405020304" pitchFamily="18" charset="0"/>
            </a:endParaRPr>
          </a:p>
          <a:p>
            <a:pPr marL="0" indent="0">
              <a:buNone/>
            </a:pPr>
            <a:r>
              <a:rPr lang="en-US" sz="4000" b="1" dirty="0">
                <a:latin typeface="Times New Roman" panose="02020603050405020304" pitchFamily="18" charset="0"/>
                <a:cs typeface="Times New Roman" panose="02020603050405020304" pitchFamily="18" charset="0"/>
              </a:rPr>
              <a:t>Components:</a:t>
            </a:r>
          </a:p>
          <a:p>
            <a:pPr marL="0" indent="0">
              <a:buNone/>
            </a:pPr>
            <a:r>
              <a:rPr lang="en-US" sz="3200" dirty="0">
                <a:latin typeface="Times New Roman" panose="02020603050405020304" pitchFamily="18" charset="0"/>
                <a:cs typeface="Times New Roman" panose="02020603050405020304" pitchFamily="18" charset="0"/>
              </a:rPr>
              <a:t>1 Arduino Uno</a:t>
            </a:r>
          </a:p>
          <a:p>
            <a:pPr marL="0" indent="0">
              <a:buNone/>
            </a:pPr>
            <a:r>
              <a:rPr lang="en-US" sz="3200" dirty="0">
                <a:latin typeface="Times New Roman" panose="02020603050405020304" pitchFamily="18" charset="0"/>
                <a:cs typeface="Times New Roman" panose="02020603050405020304" pitchFamily="18" charset="0"/>
              </a:rPr>
              <a:t>Mini Breadboard</a:t>
            </a:r>
          </a:p>
          <a:p>
            <a:pPr marL="0" indent="0">
              <a:buNone/>
            </a:pPr>
            <a:r>
              <a:rPr lang="en-US" sz="3200" dirty="0">
                <a:latin typeface="Times New Roman" panose="02020603050405020304" pitchFamily="18" charset="0"/>
                <a:cs typeface="Times New Roman" panose="02020603050405020304" pitchFamily="18" charset="0"/>
              </a:rPr>
              <a:t>2 IR Sensors (for entry and exit)</a:t>
            </a:r>
          </a:p>
          <a:p>
            <a:pPr marL="0" indent="0">
              <a:buNone/>
            </a:pPr>
            <a:r>
              <a:rPr lang="en-US" sz="3200" dirty="0">
                <a:latin typeface="Times New Roman" panose="02020603050405020304" pitchFamily="18" charset="0"/>
                <a:cs typeface="Times New Roman" panose="02020603050405020304" pitchFamily="18" charset="0"/>
              </a:rPr>
              <a:t>2 Servo Motors (for entry and exit)</a:t>
            </a:r>
          </a:p>
          <a:p>
            <a:pPr marL="0" indent="0">
              <a:buNone/>
            </a:pPr>
            <a:r>
              <a:rPr lang="en-US" sz="3200" dirty="0">
                <a:latin typeface="Times New Roman" panose="02020603050405020304" pitchFamily="18" charset="0"/>
                <a:cs typeface="Times New Roman" panose="02020603050405020304" pitchFamily="18" charset="0"/>
              </a:rPr>
              <a:t>1 OLED</a:t>
            </a:r>
          </a:p>
        </p:txBody>
      </p:sp>
    </p:spTree>
    <p:extLst>
      <p:ext uri="{BB962C8B-B14F-4D97-AF65-F5344CB8AC3E}">
        <p14:creationId xmlns:p14="http://schemas.microsoft.com/office/powerpoint/2010/main" val="1919671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334931-3B27-46D9-B705-BBBD7B6644D4}"/>
              </a:ext>
            </a:extLst>
          </p:cNvPr>
          <p:cNvSpPr>
            <a:spLocks noGrp="1"/>
          </p:cNvSpPr>
          <p:nvPr>
            <p:ph idx="1"/>
          </p:nvPr>
        </p:nvSpPr>
        <p:spPr>
          <a:xfrm>
            <a:off x="838200" y="242046"/>
            <a:ext cx="10515600" cy="6078071"/>
          </a:xfrm>
        </p:spPr>
        <p:txBody>
          <a:bodyPr/>
          <a:lstStyle/>
          <a:p>
            <a:pPr marL="0" indent="0">
              <a:buNone/>
            </a:pPr>
            <a:r>
              <a:rPr lang="en-US" sz="4000" b="1" dirty="0">
                <a:latin typeface="Times New Roman" panose="02020603050405020304" pitchFamily="18" charset="0"/>
                <a:cs typeface="Times New Roman" panose="02020603050405020304" pitchFamily="18" charset="0"/>
              </a:rPr>
              <a:t>Working</a:t>
            </a:r>
          </a:p>
          <a:p>
            <a:pPr marL="0" indent="0">
              <a:buNone/>
            </a:pPr>
            <a:r>
              <a:rPr lang="en-US" sz="3200" dirty="0">
                <a:latin typeface="Times New Roman" panose="02020603050405020304" pitchFamily="18" charset="0"/>
                <a:cs typeface="Times New Roman" panose="02020603050405020304" pitchFamily="18" charset="0"/>
              </a:rPr>
              <a:t>The smart parking system uses IR sensors to detect vehicles entering or exiting the parking lot. When a vehicle approaches the entry sensor, the system checks if slots are available. If slots are free, the entry gate opens, allowing the vehicle to enter, and the available slot count decreases. For exiting vehicles, the exit sensor triggers the exit gate to open, and the available slot count increases. An OLED display shows real-time updates on the number of available slots or displays "Parking Full" if no slots are free. The system automates parking management efficiently.</a:t>
            </a:r>
          </a:p>
        </p:txBody>
      </p:sp>
    </p:spTree>
    <p:extLst>
      <p:ext uri="{BB962C8B-B14F-4D97-AF65-F5344CB8AC3E}">
        <p14:creationId xmlns:p14="http://schemas.microsoft.com/office/powerpoint/2010/main" val="74354440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70D9D8-4F8A-42DA-9A3F-935675805636}"/>
              </a:ext>
            </a:extLst>
          </p:cNvPr>
          <p:cNvSpPr>
            <a:spLocks noGrp="1"/>
          </p:cNvSpPr>
          <p:nvPr>
            <p:ph idx="1"/>
          </p:nvPr>
        </p:nvSpPr>
        <p:spPr>
          <a:xfrm>
            <a:off x="838200" y="309282"/>
            <a:ext cx="10515600" cy="5867681"/>
          </a:xfrm>
        </p:spPr>
        <p:txBody>
          <a:bodyPr>
            <a:normAutofit/>
          </a:bodyPr>
          <a:lstStyle/>
          <a:p>
            <a:pPr marL="0" indent="0">
              <a:buNone/>
            </a:pPr>
            <a:r>
              <a:rPr lang="en-US" sz="4000" b="1" dirty="0">
                <a:latin typeface="Times New Roman" panose="02020603050405020304" pitchFamily="18" charset="0"/>
                <a:cs typeface="Times New Roman" panose="02020603050405020304" pitchFamily="18" charset="0"/>
              </a:rPr>
              <a:t>PIN Diagram</a:t>
            </a:r>
          </a:p>
          <a:p>
            <a:pPr marL="0" indent="0">
              <a:buNone/>
            </a:pPr>
            <a:endParaRPr lang="en-US" sz="4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EBB526D-31DE-4569-9800-A2D82EE44CE8}"/>
              </a:ext>
            </a:extLst>
          </p:cNvPr>
          <p:cNvPicPr>
            <a:picLocks noChangeAspect="1"/>
          </p:cNvPicPr>
          <p:nvPr/>
        </p:nvPicPr>
        <p:blipFill rotWithShape="1">
          <a:blip r:embed="rId2">
            <a:extLst>
              <a:ext uri="{28A0092B-C50C-407E-A947-70E740481C1C}">
                <a14:useLocalDpi xmlns:a14="http://schemas.microsoft.com/office/drawing/2010/main" val="0"/>
              </a:ext>
            </a:extLst>
          </a:blip>
          <a:srcRect t="9855" b="21080"/>
          <a:stretch/>
        </p:blipFill>
        <p:spPr>
          <a:xfrm>
            <a:off x="1156446" y="1237130"/>
            <a:ext cx="9628095" cy="4719918"/>
          </a:xfrm>
          <a:prstGeom prst="rect">
            <a:avLst/>
          </a:prstGeom>
          <a:ln>
            <a:solidFill>
              <a:schemeClr val="tx1"/>
            </a:solidFill>
          </a:ln>
        </p:spPr>
      </p:pic>
    </p:spTree>
    <p:extLst>
      <p:ext uri="{BB962C8B-B14F-4D97-AF65-F5344CB8AC3E}">
        <p14:creationId xmlns:p14="http://schemas.microsoft.com/office/powerpoint/2010/main" val="2773970812"/>
      </p:ext>
    </p:extLst>
  </p:cSld>
  <p:clrMapOvr>
    <a:masterClrMapping/>
  </p:clrMapOvr>
  <p:transition>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09D7CD-A561-4CD4-8426-00FA3DA7BBDE}"/>
              </a:ext>
            </a:extLst>
          </p:cNvPr>
          <p:cNvSpPr>
            <a:spLocks noGrp="1"/>
          </p:cNvSpPr>
          <p:nvPr>
            <p:ph idx="1"/>
          </p:nvPr>
        </p:nvSpPr>
        <p:spPr>
          <a:xfrm>
            <a:off x="838200" y="376518"/>
            <a:ext cx="10515600" cy="5800445"/>
          </a:xfrm>
        </p:spPr>
        <p:txBody>
          <a:bodyPr>
            <a:normAutofit lnSpcReduction="10000"/>
          </a:bodyPr>
          <a:lstStyle/>
          <a:p>
            <a:pPr marL="0" indent="0">
              <a:buNone/>
            </a:pPr>
            <a:r>
              <a:rPr lang="en-US" sz="4000" b="1" dirty="0">
                <a:latin typeface="Times New Roman" panose="02020603050405020304" pitchFamily="18" charset="0"/>
                <a:cs typeface="Times New Roman" panose="02020603050405020304" pitchFamily="18" charset="0"/>
              </a:rPr>
              <a:t>Scope:</a:t>
            </a:r>
          </a:p>
          <a:p>
            <a:r>
              <a:rPr lang="en-US" b="1" dirty="0">
                <a:latin typeface="Times New Roman" panose="02020603050405020304" pitchFamily="18" charset="0"/>
                <a:cs typeface="Times New Roman" panose="02020603050405020304" pitchFamily="18" charset="0"/>
              </a:rPr>
              <a:t>Automatic Parking Management</a:t>
            </a:r>
            <a:r>
              <a:rPr lang="en-US" dirty="0">
                <a:latin typeface="Times New Roman" panose="02020603050405020304" pitchFamily="18" charset="0"/>
                <a:cs typeface="Times New Roman" panose="02020603050405020304" pitchFamily="18" charset="0"/>
              </a:rPr>
              <a:t>: It tracks available parking spaces automatically, reducing manual work.</a:t>
            </a:r>
          </a:p>
          <a:p>
            <a:r>
              <a:rPr lang="en-US" b="1" dirty="0">
                <a:latin typeface="Times New Roman" panose="02020603050405020304" pitchFamily="18" charset="0"/>
                <a:cs typeface="Times New Roman" panose="02020603050405020304" pitchFamily="18" charset="0"/>
              </a:rPr>
              <a:t>Real-time Updates</a:t>
            </a:r>
            <a:r>
              <a:rPr lang="en-US" dirty="0">
                <a:latin typeface="Times New Roman" panose="02020603050405020304" pitchFamily="18" charset="0"/>
                <a:cs typeface="Times New Roman" panose="02020603050405020304" pitchFamily="18" charset="0"/>
              </a:rPr>
              <a:t>: The system shows parking availability on an OLED display for user convenience.</a:t>
            </a:r>
          </a:p>
          <a:p>
            <a:r>
              <a:rPr lang="en-US" b="1" dirty="0">
                <a:latin typeface="Times New Roman" panose="02020603050405020304" pitchFamily="18" charset="0"/>
                <a:cs typeface="Times New Roman" panose="02020603050405020304" pitchFamily="18" charset="0"/>
              </a:rPr>
              <a:t>Expandable</a:t>
            </a:r>
            <a:r>
              <a:rPr lang="en-US" dirty="0">
                <a:latin typeface="Times New Roman" panose="02020603050405020304" pitchFamily="18" charset="0"/>
                <a:cs typeface="Times New Roman" panose="02020603050405020304" pitchFamily="18" charset="0"/>
              </a:rPr>
              <a:t>: It can be scaled to manage larger parking areas with more sensors.</a:t>
            </a:r>
          </a:p>
          <a:p>
            <a:r>
              <a:rPr lang="en-US" b="1" dirty="0">
                <a:latin typeface="Times New Roman" panose="02020603050405020304" pitchFamily="18" charset="0"/>
                <a:cs typeface="Times New Roman" panose="02020603050405020304" pitchFamily="18" charset="0"/>
              </a:rPr>
              <a:t>Reduced Traffic</a:t>
            </a:r>
            <a:r>
              <a:rPr lang="en-US" dirty="0">
                <a:latin typeface="Times New Roman" panose="02020603050405020304" pitchFamily="18" charset="0"/>
                <a:cs typeface="Times New Roman" panose="02020603050405020304" pitchFamily="18" charset="0"/>
              </a:rPr>
              <a:t>: It helps reduce congestion by automating car entry and exit.</a:t>
            </a:r>
          </a:p>
          <a:p>
            <a:r>
              <a:rPr lang="en-US" b="1" dirty="0">
                <a:latin typeface="Times New Roman" panose="02020603050405020304" pitchFamily="18" charset="0"/>
                <a:cs typeface="Times New Roman" panose="02020603050405020304" pitchFamily="18" charset="0"/>
              </a:rPr>
              <a:t>Cost-efficient</a:t>
            </a:r>
            <a:r>
              <a:rPr lang="en-US" dirty="0">
                <a:latin typeface="Times New Roman" panose="02020603050405020304" pitchFamily="18" charset="0"/>
                <a:cs typeface="Times New Roman" panose="02020603050405020304" pitchFamily="18" charset="0"/>
              </a:rPr>
              <a:t>: It lowers the need for staff, cutting down parking management costs.</a:t>
            </a:r>
          </a:p>
          <a:p>
            <a:pPr marL="0" indent="0">
              <a:buNone/>
            </a:pPr>
            <a:r>
              <a:rPr lang="en-US" sz="2400" dirty="0">
                <a:latin typeface="Times New Roman" panose="02020603050405020304" pitchFamily="18" charset="0"/>
                <a:cs typeface="Times New Roman" panose="02020603050405020304" pitchFamily="18" charset="0"/>
              </a:rPr>
              <a:t>This system is ideal for smart cities, malls, and residential areas to improve parking efficiency.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7258390"/>
      </p:ext>
    </p:extLst>
  </p:cSld>
  <p:clrMapOvr>
    <a:masterClrMapping/>
  </p:clrMapOvr>
  <p:transition>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E255C8-8BE7-472B-9CB3-479CABFA0A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747" y="1144702"/>
            <a:ext cx="4316505" cy="4223733"/>
          </a:xfrm>
          <a:prstGeom prst="rect">
            <a:avLst/>
          </a:prstGeom>
        </p:spPr>
      </p:pic>
    </p:spTree>
    <p:extLst>
      <p:ext uri="{BB962C8B-B14F-4D97-AF65-F5344CB8AC3E}">
        <p14:creationId xmlns:p14="http://schemas.microsoft.com/office/powerpoint/2010/main" val="4284752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320</Words>
  <Application>Microsoft Office PowerPoint</Application>
  <PresentationFormat>Widescreen</PresentationFormat>
  <Paragraphs>27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Lenoveo</dc:creator>
  <cp:lastModifiedBy>Lenoveo</cp:lastModifiedBy>
  <cp:revision>3</cp:revision>
  <dcterms:created xsi:type="dcterms:W3CDTF">2025-01-21T13:39:06Z</dcterms:created>
  <dcterms:modified xsi:type="dcterms:W3CDTF">2025-01-21T14:02:30Z</dcterms:modified>
</cp:coreProperties>
</file>